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1E46C-380C-4947-9016-ECD55B885548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4E60E-E8B5-427D-81C8-2D3BF6A00F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7937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1E46C-380C-4947-9016-ECD55B885548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4E60E-E8B5-427D-81C8-2D3BF6A00F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9483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1E46C-380C-4947-9016-ECD55B885548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4E60E-E8B5-427D-81C8-2D3BF6A00F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905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1E46C-380C-4947-9016-ECD55B885548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4E60E-E8B5-427D-81C8-2D3BF6A00F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899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1E46C-380C-4947-9016-ECD55B885548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4E60E-E8B5-427D-81C8-2D3BF6A00F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5972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1E46C-380C-4947-9016-ECD55B885548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4E60E-E8B5-427D-81C8-2D3BF6A00F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548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1E46C-380C-4947-9016-ECD55B885548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4E60E-E8B5-427D-81C8-2D3BF6A00F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42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1E46C-380C-4947-9016-ECD55B885548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E154E60E-E8B5-427D-81C8-2D3BF6A00F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9355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1E46C-380C-4947-9016-ECD55B885548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4E60E-E8B5-427D-81C8-2D3BF6A00F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2674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1E46C-380C-4947-9016-ECD55B885548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4E60E-E8B5-427D-81C8-2D3BF6A00F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809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1E46C-380C-4947-9016-ECD55B885548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54E60E-E8B5-427D-81C8-2D3BF6A00F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6616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1C81E46C-380C-4947-9016-ECD55B885548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tx1">
                    <a:alpha val="20000"/>
                  </a:schemeClr>
                </a:solidFill>
                <a:latin typeface="+mj-lt"/>
              </a:defRPr>
            </a:lvl1pPr>
          </a:lstStyle>
          <a:p>
            <a:fld id="{E154E60E-E8B5-427D-81C8-2D3BF6A00F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8054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2000" i="1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accent1">
                <a:lumMod val="60000"/>
                <a:lumOff val="40000"/>
              </a:schemeClr>
            </a:gs>
            <a:gs pos="61000">
              <a:schemeClr val="accent1">
                <a:lumMod val="50000"/>
              </a:schemeClr>
            </a:gs>
            <a:gs pos="0">
              <a:schemeClr val="accent1">
                <a:lumMod val="5000"/>
                <a:lumOff val="95000"/>
              </a:schemeClr>
            </a:gs>
            <a:gs pos="80000">
              <a:srgbClr val="002060"/>
            </a:gs>
            <a:gs pos="100000">
              <a:srgbClr val="00206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09C9B-7E24-28C2-19D3-7B6A32E37D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6550" y="1157287"/>
            <a:ext cx="10966323" cy="3019425"/>
          </a:xfrm>
        </p:spPr>
        <p:txBody>
          <a:bodyPr/>
          <a:lstStyle/>
          <a:p>
            <a:pPr algn="ctr"/>
            <a:r>
              <a:rPr lang="en-US" sz="7200" dirty="0">
                <a:solidFill>
                  <a:schemeClr val="bg1"/>
                </a:solidFill>
                <a:latin typeface="Oswald SemiBold" pitchFamily="2" charset="0"/>
              </a:rPr>
              <a:t>Superstore Sales &amp; Profit Analysis with Distribution Optimization</a:t>
            </a:r>
            <a:endParaRPr lang="en-IN" sz="7200" dirty="0">
              <a:solidFill>
                <a:schemeClr val="bg1"/>
              </a:solidFill>
              <a:latin typeface="Oswald SemiBold" pitchFamily="2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76B4B53-BBEC-2B5A-3A18-BFDB7B4BBEF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413568" y="4191000"/>
            <a:ext cx="5352288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swald Light" pitchFamily="2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swald Light" pitchFamily="2" charset="0"/>
              </a:rPr>
              <a:t>Tableau Project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swald Medium" pitchFamily="2" charset="0"/>
              </a:rPr>
              <a:t>By- SUPRITH S</a:t>
            </a:r>
          </a:p>
        </p:txBody>
      </p:sp>
    </p:spTree>
    <p:extLst>
      <p:ext uri="{BB962C8B-B14F-4D97-AF65-F5344CB8AC3E}">
        <p14:creationId xmlns:p14="http://schemas.microsoft.com/office/powerpoint/2010/main" val="3567289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2060"/>
            </a:gs>
            <a:gs pos="99000">
              <a:schemeClr val="tx1"/>
            </a:gs>
            <a:gs pos="50000">
              <a:schemeClr val="accent1">
                <a:lumMod val="60000"/>
                <a:lumOff val="4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AB939-78E0-2938-EEE9-A377FDFB0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21" y="918633"/>
            <a:ext cx="10773157" cy="919692"/>
          </a:xfrm>
        </p:spPr>
        <p:txBody>
          <a:bodyPr/>
          <a:lstStyle/>
          <a:p>
            <a:r>
              <a:rPr lang="en-IN" dirty="0">
                <a:latin typeface="Oswald Medium" pitchFamily="2" charset="0"/>
              </a:rPr>
              <a:t>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F7441-3DD2-3273-7713-543EDD5DA2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137" y="1914525"/>
            <a:ext cx="10063163" cy="3924300"/>
          </a:xfrm>
        </p:spPr>
        <p:txBody>
          <a:bodyPr/>
          <a:lstStyle/>
          <a:p>
            <a:r>
              <a:rPr lang="en-US" sz="2800" dirty="0">
                <a:solidFill>
                  <a:schemeClr val="bg1"/>
                </a:solidFill>
                <a:latin typeface="Oswald Light" pitchFamily="2" charset="0"/>
              </a:rPr>
              <a:t>This project analyzes Superstore sales data using Tableau to identify trends, patterns, and inefficiencies in business performance. The focus is on understanding </a:t>
            </a:r>
            <a:r>
              <a:rPr lang="en-US" sz="2800" b="1" dirty="0">
                <a:solidFill>
                  <a:schemeClr val="bg1"/>
                </a:solidFill>
                <a:latin typeface="Oswald Light" pitchFamily="2" charset="0"/>
              </a:rPr>
              <a:t>sales, profit, and regional performance</a:t>
            </a:r>
            <a:r>
              <a:rPr lang="en-US" sz="2800" dirty="0">
                <a:solidFill>
                  <a:schemeClr val="bg1"/>
                </a:solidFill>
                <a:latin typeface="Oswald Light" pitchFamily="2" charset="0"/>
              </a:rPr>
              <a:t> to improve decision-making.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Oswald Light" pitchFamily="2" charset="0"/>
              </a:rPr>
              <a:t>  Analyze sales and profit performance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Oswald Light" pitchFamily="2" charset="0"/>
              </a:rPr>
              <a:t>  Identify loss-making areas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Oswald Light" pitchFamily="2" charset="0"/>
              </a:rPr>
              <a:t>  Improve business efficiency using insights</a:t>
            </a:r>
          </a:p>
          <a:p>
            <a:endParaRPr lang="en-IN" dirty="0">
              <a:solidFill>
                <a:schemeClr val="bg1"/>
              </a:solidFill>
              <a:latin typeface="Oswald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693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2060"/>
            </a:gs>
            <a:gs pos="100000">
              <a:schemeClr val="tx1"/>
            </a:gs>
            <a:gs pos="50000">
              <a:schemeClr val="accent1">
                <a:lumMod val="60000"/>
                <a:lumOff val="4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0F815D-ADEA-CC02-3205-51A9F7C06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825C0-0395-0529-76E1-6C8A4FCAE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21" y="918633"/>
            <a:ext cx="10773157" cy="919692"/>
          </a:xfrm>
        </p:spPr>
        <p:txBody>
          <a:bodyPr/>
          <a:lstStyle/>
          <a:p>
            <a:r>
              <a:rPr lang="en-IN" dirty="0">
                <a:latin typeface="Oswald Medium" pitchFamily="2" charset="0"/>
              </a:rPr>
              <a:t>Key KPIs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46CD9-CEB6-658C-062D-6B02944686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9421" y="3762376"/>
            <a:ext cx="10063163" cy="196215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Oswald Light" pitchFamily="2" charset="0"/>
              </a:rPr>
              <a:t>Total Sales: 2.29 Million</a:t>
            </a:r>
          </a:p>
          <a:p>
            <a:r>
              <a:rPr lang="en-US" dirty="0">
                <a:solidFill>
                  <a:schemeClr val="bg1"/>
                </a:solidFill>
                <a:latin typeface="Oswald Light" pitchFamily="2" charset="0"/>
              </a:rPr>
              <a:t>Total Profit: 286K</a:t>
            </a:r>
          </a:p>
          <a:p>
            <a:r>
              <a:rPr lang="en-US" dirty="0">
                <a:solidFill>
                  <a:schemeClr val="bg1"/>
                </a:solidFill>
                <a:latin typeface="Oswald Light" pitchFamily="2" charset="0"/>
              </a:rPr>
              <a:t>Total Quantity: 37K+</a:t>
            </a:r>
          </a:p>
          <a:p>
            <a:r>
              <a:rPr lang="en-US" dirty="0">
                <a:solidFill>
                  <a:schemeClr val="bg1"/>
                </a:solidFill>
                <a:latin typeface="Oswald Light" pitchFamily="2" charset="0"/>
              </a:rPr>
              <a:t>Overall business is profitable</a:t>
            </a:r>
          </a:p>
          <a:p>
            <a:pPr marL="0" indent="0">
              <a:buNone/>
            </a:pPr>
            <a:endParaRPr lang="en-IN" sz="2000" dirty="0">
              <a:solidFill>
                <a:schemeClr val="bg1"/>
              </a:solidFill>
              <a:latin typeface="Oswald Light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167C41-CBF1-F0D6-B397-4890263126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306" r="50000" b="50000"/>
          <a:stretch>
            <a:fillRect/>
          </a:stretch>
        </p:blipFill>
        <p:spPr>
          <a:xfrm>
            <a:off x="794621" y="1838325"/>
            <a:ext cx="9440705" cy="1666876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D756705-F237-66A5-DBCE-06D5CE91D9B5}"/>
              </a:ext>
            </a:extLst>
          </p:cNvPr>
          <p:cNvSpPr txBox="1">
            <a:spLocks/>
          </p:cNvSpPr>
          <p:nvPr/>
        </p:nvSpPr>
        <p:spPr>
          <a:xfrm>
            <a:off x="995679" y="5981701"/>
            <a:ext cx="10486899" cy="5759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Char char=" "/>
              <a:defRPr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47472" indent="-3429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8640" indent="-54864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i="1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22960" indent="-82296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109728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  <a:latin typeface="Oswald Light" pitchFamily="2" charset="0"/>
              </a:rPr>
              <a:t>“The business has strong overall performance with over 2.2 million in sales and 286K profit.”</a:t>
            </a:r>
          </a:p>
          <a:p>
            <a:pPr marL="0" indent="0" algn="ctr">
              <a:buFont typeface="Arial" pitchFamily="34" charset="0"/>
              <a:buNone/>
            </a:pPr>
            <a:endParaRPr lang="en-IN" sz="2000" dirty="0">
              <a:solidFill>
                <a:schemeClr val="bg1"/>
              </a:solidFill>
              <a:latin typeface="Oswald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2310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2060"/>
            </a:gs>
            <a:gs pos="100000">
              <a:schemeClr val="tx1"/>
            </a:gs>
            <a:gs pos="50000">
              <a:schemeClr val="accent1">
                <a:lumMod val="60000"/>
                <a:lumOff val="4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4B7534-B9F2-BE3A-8F00-B92467211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7BAB9-6E39-F24B-98A3-C9E38DD22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21" y="756708"/>
            <a:ext cx="10773157" cy="919692"/>
          </a:xfrm>
        </p:spPr>
        <p:txBody>
          <a:bodyPr/>
          <a:lstStyle/>
          <a:p>
            <a:r>
              <a:rPr lang="en-IN" dirty="0">
                <a:latin typeface="Oswald Medium" pitchFamily="2" charset="0"/>
              </a:rPr>
              <a:t>Monthly Sales Trend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A92F75-04CD-78C1-C02D-732483819E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083" r="42031" b="8056"/>
          <a:stretch>
            <a:fillRect/>
          </a:stretch>
        </p:blipFill>
        <p:spPr>
          <a:xfrm>
            <a:off x="709421" y="1468967"/>
            <a:ext cx="10174643" cy="4429125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EC45FC3-9593-0A38-57FF-64B849FDB256}"/>
              </a:ext>
            </a:extLst>
          </p:cNvPr>
          <p:cNvSpPr txBox="1">
            <a:spLocks/>
          </p:cNvSpPr>
          <p:nvPr/>
        </p:nvSpPr>
        <p:spPr>
          <a:xfrm>
            <a:off x="995679" y="6034407"/>
            <a:ext cx="9888385" cy="5759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Char char=" "/>
              <a:defRPr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47472" indent="-3429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8640" indent="-54864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i="1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22960" indent="-82296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109728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  <a:latin typeface="Oswald Light" pitchFamily="2" charset="0"/>
              </a:rPr>
              <a:t>“Sales increase throughout the year, peaking in November and December, indicating seasonal demand.”</a:t>
            </a:r>
            <a:endParaRPr lang="en-IN" sz="2000" dirty="0">
              <a:solidFill>
                <a:schemeClr val="bg1"/>
              </a:solidFill>
              <a:latin typeface="Oswald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996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2060"/>
            </a:gs>
            <a:gs pos="100000">
              <a:schemeClr val="tx1"/>
            </a:gs>
            <a:gs pos="50000">
              <a:schemeClr val="accent1">
                <a:lumMod val="60000"/>
                <a:lumOff val="4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149FD4-35FD-6253-008C-6767470BD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D9DA4-0DD7-7A59-43B4-289B0BD8D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197" y="328082"/>
            <a:ext cx="3052954" cy="2119843"/>
          </a:xfrm>
        </p:spPr>
        <p:txBody>
          <a:bodyPr/>
          <a:lstStyle/>
          <a:p>
            <a:r>
              <a:rPr lang="en-IN" dirty="0">
                <a:latin typeface="Oswald Medium" pitchFamily="2" charset="0"/>
              </a:rPr>
              <a:t>Sales of Furniture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6DAF86-70F3-ED5E-28E1-624E0DC374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78" t="22778" r="41250" b="7917"/>
          <a:stretch>
            <a:fillRect/>
          </a:stretch>
        </p:blipFill>
        <p:spPr>
          <a:xfrm>
            <a:off x="4017153" y="200025"/>
            <a:ext cx="7741650" cy="620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892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2060"/>
            </a:gs>
            <a:gs pos="100000">
              <a:schemeClr val="tx1"/>
            </a:gs>
            <a:gs pos="50000">
              <a:schemeClr val="accent1">
                <a:lumMod val="60000"/>
                <a:lumOff val="4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8CE1A6-78D1-0613-5993-EAD3A42AB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22103-7943-8338-A7E1-A611653BA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197" y="328082"/>
            <a:ext cx="11177778" cy="1148293"/>
          </a:xfrm>
        </p:spPr>
        <p:txBody>
          <a:bodyPr/>
          <a:lstStyle/>
          <a:p>
            <a:r>
              <a:rPr lang="en-IN" dirty="0">
                <a:latin typeface="Oswald Medium" pitchFamily="2" charset="0"/>
              </a:rPr>
              <a:t>Profit By State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B8662A-DCB4-B9F5-B21B-79072F9E3C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44" t="45418" r="24531" b="6388"/>
          <a:stretch>
            <a:fillRect/>
          </a:stretch>
        </p:blipFill>
        <p:spPr>
          <a:xfrm>
            <a:off x="581025" y="1266825"/>
            <a:ext cx="8162925" cy="36501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D5DD25E-6862-9392-4AA9-D050E8F81536}"/>
              </a:ext>
            </a:extLst>
          </p:cNvPr>
          <p:cNvSpPr txBox="1"/>
          <p:nvPr/>
        </p:nvSpPr>
        <p:spPr>
          <a:xfrm>
            <a:off x="581025" y="4917000"/>
            <a:ext cx="7800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Oswald Light" pitchFamily="2" charset="0"/>
              </a:rPr>
              <a:t>Pennsylvania is one of the superstore's biggest market by sales</a:t>
            </a:r>
            <a:endParaRPr lang="en-IN" sz="2400" dirty="0">
              <a:solidFill>
                <a:schemeClr val="bg1"/>
              </a:solidFill>
              <a:latin typeface="Oswald Light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16FBB77-7793-C089-282F-5172182CF1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35" t="33056" r="79608" b="4784"/>
          <a:stretch>
            <a:fillRect/>
          </a:stretch>
        </p:blipFill>
        <p:spPr>
          <a:xfrm>
            <a:off x="9049613" y="1023233"/>
            <a:ext cx="1599509" cy="550668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4113657-726E-875A-0042-D257F860B195}"/>
              </a:ext>
            </a:extLst>
          </p:cNvPr>
          <p:cNvSpPr txBox="1"/>
          <p:nvPr/>
        </p:nvSpPr>
        <p:spPr>
          <a:xfrm>
            <a:off x="308122" y="5501800"/>
            <a:ext cx="83467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Oswald Light" pitchFamily="2" charset="0"/>
              </a:rPr>
              <a:t>“California and New York lead in sales, while Pennsylvania also contributes significantly.”</a:t>
            </a:r>
            <a:br>
              <a:rPr lang="en-US" sz="2000" dirty="0">
                <a:solidFill>
                  <a:schemeClr val="bg1"/>
                </a:solidFill>
                <a:latin typeface="Oswald Light" pitchFamily="2" charset="0"/>
              </a:rPr>
            </a:br>
            <a:r>
              <a:rPr lang="en-US" sz="2000" dirty="0">
                <a:solidFill>
                  <a:schemeClr val="bg1"/>
                </a:solidFill>
                <a:latin typeface="Oswald Light" pitchFamily="2" charset="0"/>
              </a:rPr>
              <a:t>“Despite high sales, Pennsylvania shows negative profit, which is a major concern.”</a:t>
            </a:r>
          </a:p>
        </p:txBody>
      </p:sp>
    </p:spTree>
    <p:extLst>
      <p:ext uri="{BB962C8B-B14F-4D97-AF65-F5344CB8AC3E}">
        <p14:creationId xmlns:p14="http://schemas.microsoft.com/office/powerpoint/2010/main" val="3650553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2060"/>
            </a:gs>
            <a:gs pos="100000">
              <a:schemeClr val="tx1"/>
            </a:gs>
            <a:gs pos="50000">
              <a:schemeClr val="accent1">
                <a:lumMod val="60000"/>
                <a:lumOff val="4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97FB90-E929-86D0-5222-6F7AF236A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CCF14-012F-1852-C726-88F78CF74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517" y="1180454"/>
            <a:ext cx="4819523" cy="1148293"/>
          </a:xfrm>
        </p:spPr>
        <p:txBody>
          <a:bodyPr/>
          <a:lstStyle/>
          <a:p>
            <a:r>
              <a:rPr lang="en-IN" dirty="0">
                <a:latin typeface="Oswald Medium" pitchFamily="2" charset="0"/>
              </a:rPr>
              <a:t>Profit By State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465A15B-CD84-9EA8-E101-1D26AC3C6E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25" t="32267" r="56800" b="4784"/>
          <a:stretch>
            <a:fillRect/>
          </a:stretch>
        </p:blipFill>
        <p:spPr>
          <a:xfrm>
            <a:off x="5886069" y="740603"/>
            <a:ext cx="5009896" cy="52213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322B743-6E6D-C07D-F204-E18A7484FDFE}"/>
              </a:ext>
            </a:extLst>
          </p:cNvPr>
          <p:cNvSpPr txBox="1"/>
          <p:nvPr/>
        </p:nvSpPr>
        <p:spPr>
          <a:xfrm>
            <a:off x="453517" y="2328747"/>
            <a:ext cx="45553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Oswald Light" pitchFamily="2" charset="0"/>
              </a:rPr>
              <a:t>Positive profits in Washington, California, but a similar story in Texas</a:t>
            </a:r>
            <a:endParaRPr lang="en-IN" sz="2400" dirty="0">
              <a:solidFill>
                <a:schemeClr val="bg1"/>
              </a:solidFill>
              <a:latin typeface="Oswald Light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5D4348-2DE1-B5CD-B3F4-D6EE3C60895C}"/>
              </a:ext>
            </a:extLst>
          </p:cNvPr>
          <p:cNvSpPr txBox="1"/>
          <p:nvPr/>
        </p:nvSpPr>
        <p:spPr>
          <a:xfrm>
            <a:off x="453517" y="3351281"/>
            <a:ext cx="50227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Oswald Light" pitchFamily="2" charset="0"/>
              </a:rPr>
              <a:t>“New York leads in city-level sales, followed by Los Angeles and Philadelphia.”</a:t>
            </a:r>
            <a:endParaRPr lang="en-IN" sz="2000" dirty="0">
              <a:solidFill>
                <a:schemeClr val="bg1"/>
              </a:solidFill>
              <a:latin typeface="Oswald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0005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2060"/>
            </a:gs>
            <a:gs pos="100000">
              <a:schemeClr val="tx1"/>
            </a:gs>
            <a:gs pos="50000">
              <a:schemeClr val="accent1">
                <a:lumMod val="60000"/>
                <a:lumOff val="4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D46076-CA6D-8374-A099-59C63CB52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C01C2-9581-D761-A238-21CA2DECA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957" y="278879"/>
            <a:ext cx="9869043" cy="1148293"/>
          </a:xfrm>
        </p:spPr>
        <p:txBody>
          <a:bodyPr>
            <a:normAutofit/>
          </a:bodyPr>
          <a:lstStyle/>
          <a:p>
            <a:pPr algn="ctr"/>
            <a:r>
              <a:rPr lang="en-IN" dirty="0">
                <a:latin typeface="Oswald Medium" pitchFamily="2" charset="0"/>
              </a:rPr>
              <a:t>Distribution centre near Philadelphia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B4C8F0-3435-287D-7F5B-9CC4C1F140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83" t="39555" r="29333" b="10371"/>
          <a:stretch>
            <a:fillRect/>
          </a:stretch>
        </p:blipFill>
        <p:spPr>
          <a:xfrm>
            <a:off x="1566242" y="1232360"/>
            <a:ext cx="9059516" cy="43932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FEF4FD4-6668-C7A5-60A2-F630B6AAB583}"/>
              </a:ext>
            </a:extLst>
          </p:cNvPr>
          <p:cNvSpPr txBox="1"/>
          <p:nvPr/>
        </p:nvSpPr>
        <p:spPr>
          <a:xfrm>
            <a:off x="6168440" y="4671533"/>
            <a:ext cx="44573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bg1"/>
                </a:solidFill>
                <a:latin typeface="Oswald Light" pitchFamily="2" charset="0"/>
              </a:rPr>
              <a:t>spread of sales in Texas may lessen the impact of distribution center</a:t>
            </a:r>
            <a:endParaRPr lang="en-IN" sz="2400" dirty="0">
              <a:solidFill>
                <a:schemeClr val="bg1"/>
              </a:solidFill>
              <a:latin typeface="Oswald Light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E97783-A7BF-3222-EB53-272F153AA839}"/>
              </a:ext>
            </a:extLst>
          </p:cNvPr>
          <p:cNvSpPr txBox="1"/>
          <p:nvPr/>
        </p:nvSpPr>
        <p:spPr>
          <a:xfrm>
            <a:off x="386080" y="5697693"/>
            <a:ext cx="116433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Oswald Light" pitchFamily="2" charset="0"/>
              </a:rPr>
              <a:t>“A distribution center near Philadelphia will reduce logistics costs, improve delivery efficiency, </a:t>
            </a:r>
            <a:br>
              <a:rPr lang="en-US" sz="2000" dirty="0">
                <a:solidFill>
                  <a:schemeClr val="bg1"/>
                </a:solidFill>
                <a:latin typeface="Oswald Light" pitchFamily="2" charset="0"/>
              </a:rPr>
            </a:br>
            <a:r>
              <a:rPr lang="en-US" sz="2000" dirty="0">
                <a:solidFill>
                  <a:schemeClr val="bg1"/>
                </a:solidFill>
                <a:latin typeface="Oswald Light" pitchFamily="2" charset="0"/>
              </a:rPr>
              <a:t>and convert a high-sales but loss-making region into a profitable one.”</a:t>
            </a:r>
            <a:endParaRPr lang="en-IN" sz="2000" dirty="0">
              <a:solidFill>
                <a:schemeClr val="bg1"/>
              </a:solidFill>
              <a:latin typeface="Oswald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75354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2060"/>
            </a:gs>
            <a:gs pos="100000">
              <a:schemeClr val="tx1"/>
            </a:gs>
            <a:gs pos="50000">
              <a:schemeClr val="accent1">
                <a:lumMod val="60000"/>
                <a:lumOff val="4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6A1FAA-C72E-B313-7594-12D68B6A3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ADFDC-E0C5-EEFE-84BF-3D00BD697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295" y="150897"/>
            <a:ext cx="9869043" cy="1148293"/>
          </a:xfrm>
        </p:spPr>
        <p:txBody>
          <a:bodyPr>
            <a:normAutofit/>
          </a:bodyPr>
          <a:lstStyle/>
          <a:p>
            <a:r>
              <a:rPr lang="en-IN" dirty="0">
                <a:latin typeface="Oswald Medium" pitchFamily="2" charset="0"/>
              </a:rPr>
              <a:t>Key Findings from Analysis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DCD97B6-6A90-D204-5FEA-17F2967254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337" y="1064105"/>
            <a:ext cx="9162737" cy="5565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swald Light" pitchFamily="2" charset="0"/>
              </a:rPr>
              <a:t>Total sales are high (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swald Light" pitchFamily="2" charset="0"/>
              </a:rPr>
              <a:t>~2.29M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swald Light" pitchFamily="2" charset="0"/>
              </a:rPr>
              <a:t>) indicating strong business</a:t>
            </a:r>
            <a:r>
              <a:rPr lang="en-US" altLang="en-US" sz="2400" dirty="0">
                <a:solidFill>
                  <a:schemeClr val="bg1"/>
                </a:solidFill>
                <a:latin typeface="Oswald Light" pitchFamily="2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swald Light" pitchFamily="2" charset="0"/>
              </a:rPr>
              <a:t>performance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swald Light" pitchFamily="2" charset="0"/>
              </a:rPr>
              <a:t>Sales increase towards year-end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swald Light" pitchFamily="2" charset="0"/>
              </a:rPr>
              <a:t>, showing seasonal demand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swald Light" pitchFamily="2" charset="0"/>
              </a:rPr>
              <a:t>Top performing states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swald Light" pitchFamily="2" charset="0"/>
              </a:rPr>
              <a:t>: California, New York, Texas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swald Light" pitchFamily="2" charset="0"/>
              </a:rPr>
              <a:t>Pennsylvania has high sales but negative profit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swald Light" pitchFamily="2" charset="0"/>
              </a:rPr>
              <a:t> (major issue)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swald Light" pitchFamily="2" charset="0"/>
              </a:rPr>
              <a:t>High number of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swald Light" pitchFamily="2" charset="0"/>
              </a:rPr>
              <a:t>loss-making orders in Pennsylvania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swald Light" pitchFamily="2" charset="0"/>
              </a:rPr>
              <a:t>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swald Light" pitchFamily="2" charset="0"/>
              </a:rPr>
              <a:t>Overall profit is positive (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swald Light" pitchFamily="2" charset="0"/>
              </a:rPr>
              <a:t>~286K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swald Light" pitchFamily="2" charset="0"/>
              </a:rPr>
              <a:t>) but not consistent across regions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swald Light" pitchFamily="2" charset="0"/>
              </a:rPr>
              <a:t>Furniture category is unprofitable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swald Light" pitchFamily="2" charset="0"/>
              </a:rPr>
              <a:t>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swald Light" pitchFamily="2" charset="0"/>
              </a:rPr>
              <a:t>Tables and Bookcases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swald Light" pitchFamily="2" charset="0"/>
              </a:rPr>
              <a:t> are major loss-making sub-categories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swald Light" pitchFamily="2" charset="0"/>
              </a:rPr>
              <a:t>Technology category generates highest profit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swald Light" pitchFamily="2" charset="0"/>
              </a:rPr>
              <a:t>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swald Light" pitchFamily="2" charset="0"/>
              </a:rPr>
              <a:t>High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swald Light" pitchFamily="2" charset="0"/>
              </a:rPr>
              <a:t>cost of sales and shipping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Oswald Light" pitchFamily="2" charset="0"/>
              </a:rPr>
              <a:t> affecting profitability </a:t>
            </a:r>
          </a:p>
        </p:txBody>
      </p:sp>
    </p:spTree>
    <p:extLst>
      <p:ext uri="{BB962C8B-B14F-4D97-AF65-F5344CB8AC3E}">
        <p14:creationId xmlns:p14="http://schemas.microsoft.com/office/powerpoint/2010/main" val="1789536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2060"/>
            </a:gs>
            <a:gs pos="100000">
              <a:schemeClr val="tx1"/>
            </a:gs>
            <a:gs pos="50000">
              <a:schemeClr val="accent1">
                <a:lumMod val="60000"/>
                <a:lumOff val="4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4BFEA0-D5D1-E927-4550-47C2C4AD5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00E47-D9ED-6684-B47C-4B4E34395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013" y="240365"/>
            <a:ext cx="9869043" cy="1148293"/>
          </a:xfrm>
        </p:spPr>
        <p:txBody>
          <a:bodyPr>
            <a:normAutofit/>
          </a:bodyPr>
          <a:lstStyle/>
          <a:p>
            <a:r>
              <a:rPr lang="en-IN" dirty="0">
                <a:latin typeface="Oswald Medium" pitchFamily="2" charset="0"/>
              </a:rPr>
              <a:t>Recommendations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0206AFB-8A56-F31E-997D-446153208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013" y="1304137"/>
            <a:ext cx="10825974" cy="51853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bg1"/>
                </a:solidFill>
                <a:latin typeface="Oswald Light" pitchFamily="2" charset="0"/>
              </a:rPr>
              <a:t>Build a distribution center near Philadelphia</a:t>
            </a:r>
            <a:r>
              <a:rPr lang="en-US" sz="2800" dirty="0">
                <a:solidFill>
                  <a:schemeClr val="bg1"/>
                </a:solidFill>
                <a:latin typeface="Oswald Light" pitchFamily="2" charset="0"/>
              </a:rPr>
              <a:t>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Oswald Light" pitchFamily="2" charset="0"/>
              </a:rPr>
              <a:t>Reduce </a:t>
            </a:r>
            <a:r>
              <a:rPr lang="en-US" sz="2800" b="1" dirty="0">
                <a:solidFill>
                  <a:schemeClr val="bg1"/>
                </a:solidFill>
                <a:latin typeface="Oswald Light" pitchFamily="2" charset="0"/>
              </a:rPr>
              <a:t>shipping and transportation costs</a:t>
            </a:r>
            <a:r>
              <a:rPr lang="en-US" sz="2800" dirty="0">
                <a:solidFill>
                  <a:schemeClr val="bg1"/>
                </a:solidFill>
                <a:latin typeface="Oswald Light" pitchFamily="2" charset="0"/>
              </a:rPr>
              <a:t>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Oswald Light" pitchFamily="2" charset="0"/>
              </a:rPr>
              <a:t>Improve </a:t>
            </a:r>
            <a:r>
              <a:rPr lang="en-US" sz="2800" b="1" dirty="0">
                <a:solidFill>
                  <a:schemeClr val="bg1"/>
                </a:solidFill>
                <a:latin typeface="Oswald Light" pitchFamily="2" charset="0"/>
              </a:rPr>
              <a:t>delivery time and operational efficiency</a:t>
            </a:r>
            <a:r>
              <a:rPr lang="en-US" sz="2800" dirty="0">
                <a:solidFill>
                  <a:schemeClr val="bg1"/>
                </a:solidFill>
                <a:latin typeface="Oswald Light" pitchFamily="2" charset="0"/>
              </a:rPr>
              <a:t>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Oswald Light" pitchFamily="2" charset="0"/>
              </a:rPr>
              <a:t>Optimize </a:t>
            </a:r>
            <a:r>
              <a:rPr lang="en-US" sz="2800" b="1" dirty="0">
                <a:solidFill>
                  <a:schemeClr val="bg1"/>
                </a:solidFill>
                <a:latin typeface="Oswald Light" pitchFamily="2" charset="0"/>
              </a:rPr>
              <a:t>supply chain and inventory management</a:t>
            </a:r>
            <a:r>
              <a:rPr lang="en-US" sz="2800" dirty="0">
                <a:solidFill>
                  <a:schemeClr val="bg1"/>
                </a:solidFill>
                <a:latin typeface="Oswald Light" pitchFamily="2" charset="0"/>
              </a:rPr>
              <a:t>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Oswald Light" pitchFamily="2" charset="0"/>
              </a:rPr>
              <a:t>Focus more on </a:t>
            </a:r>
            <a:r>
              <a:rPr lang="en-US" sz="2800" b="1" dirty="0">
                <a:solidFill>
                  <a:schemeClr val="bg1"/>
                </a:solidFill>
                <a:latin typeface="Oswald Light" pitchFamily="2" charset="0"/>
              </a:rPr>
              <a:t>profitable categories (Technology)</a:t>
            </a:r>
            <a:r>
              <a:rPr lang="en-US" sz="2800" dirty="0">
                <a:solidFill>
                  <a:schemeClr val="bg1"/>
                </a:solidFill>
                <a:latin typeface="Oswald Light" pitchFamily="2" charset="0"/>
              </a:rPr>
              <a:t>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Oswald Light" pitchFamily="2" charset="0"/>
              </a:rPr>
              <a:t>Reduce or improve </a:t>
            </a:r>
            <a:r>
              <a:rPr lang="en-US" sz="2800" b="1" dirty="0">
                <a:solidFill>
                  <a:schemeClr val="bg1"/>
                </a:solidFill>
                <a:latin typeface="Oswald Light" pitchFamily="2" charset="0"/>
              </a:rPr>
              <a:t>loss-making products (Tables, Bookcases)</a:t>
            </a:r>
            <a:r>
              <a:rPr lang="en-US" sz="2800" dirty="0">
                <a:solidFill>
                  <a:schemeClr val="bg1"/>
                </a:solidFill>
                <a:latin typeface="Oswald Light" pitchFamily="2" charset="0"/>
              </a:rPr>
              <a:t>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Oswald Light" pitchFamily="2" charset="0"/>
              </a:rPr>
              <a:t>Implement better </a:t>
            </a:r>
            <a:r>
              <a:rPr lang="en-US" sz="2800" b="1" dirty="0">
                <a:solidFill>
                  <a:schemeClr val="bg1"/>
                </a:solidFill>
                <a:latin typeface="Oswald Light" pitchFamily="2" charset="0"/>
              </a:rPr>
              <a:t>pricing and discount strategies</a:t>
            </a:r>
            <a:r>
              <a:rPr lang="en-US" sz="2800" dirty="0">
                <a:solidFill>
                  <a:schemeClr val="bg1"/>
                </a:solidFill>
                <a:latin typeface="Oswald Light" pitchFamily="2" charset="0"/>
              </a:rPr>
              <a:t>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Oswald Light" pitchFamily="2" charset="0"/>
              </a:rPr>
              <a:t>Use high-performing regions as </a:t>
            </a:r>
            <a:r>
              <a:rPr lang="en-US" sz="2800" b="1" dirty="0">
                <a:solidFill>
                  <a:schemeClr val="bg1"/>
                </a:solidFill>
                <a:latin typeface="Oswald Light" pitchFamily="2" charset="0"/>
              </a:rPr>
              <a:t>benchmarks for efficiency</a:t>
            </a:r>
            <a:endParaRPr lang="en-US" sz="2800" dirty="0">
              <a:solidFill>
                <a:schemeClr val="bg1"/>
              </a:solidFill>
              <a:latin typeface="Oswald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50662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2060"/>
            </a:gs>
            <a:gs pos="100000">
              <a:schemeClr val="tx1"/>
            </a:gs>
            <a:gs pos="70000">
              <a:schemeClr val="accent1">
                <a:lumMod val="60000"/>
                <a:lumOff val="4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4C6A26-B9E0-D0BB-9158-C9A89B74D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889F4-9B2E-849F-1297-0F6176D35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013" y="835789"/>
            <a:ext cx="9869043" cy="1148293"/>
          </a:xfrm>
        </p:spPr>
        <p:txBody>
          <a:bodyPr>
            <a:normAutofit/>
          </a:bodyPr>
          <a:lstStyle/>
          <a:p>
            <a:r>
              <a:rPr lang="en-US" b="1" dirty="0">
                <a:latin typeface="Oswald Medium" pitchFamily="2" charset="0"/>
              </a:rPr>
              <a:t>Conclusion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14B071F-66BF-E286-7CD7-3EBE7ECE80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013" y="2022875"/>
            <a:ext cx="10608764" cy="3892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Oswald Light" pitchFamily="2" charset="0"/>
              </a:rPr>
              <a:t>Business is </a:t>
            </a:r>
            <a:r>
              <a:rPr lang="en-US" sz="2800" b="1" dirty="0">
                <a:solidFill>
                  <a:schemeClr val="bg1"/>
                </a:solidFill>
                <a:latin typeface="Oswald Light" pitchFamily="2" charset="0"/>
              </a:rPr>
              <a:t>performing well in sales but has inefficiencies</a:t>
            </a:r>
            <a:r>
              <a:rPr lang="en-US" sz="2800" dirty="0">
                <a:solidFill>
                  <a:schemeClr val="bg1"/>
                </a:solidFill>
                <a:latin typeface="Oswald Light" pitchFamily="2" charset="0"/>
              </a:rPr>
              <a:t>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Oswald Light" pitchFamily="2" charset="0"/>
              </a:rPr>
              <a:t>Profitability issues are mainly due to </a:t>
            </a:r>
            <a:r>
              <a:rPr lang="en-US" sz="2800" b="1" dirty="0">
                <a:solidFill>
                  <a:schemeClr val="bg1"/>
                </a:solidFill>
                <a:latin typeface="Oswald Light" pitchFamily="2" charset="0"/>
              </a:rPr>
              <a:t>high logistics and operational costs</a:t>
            </a:r>
            <a:r>
              <a:rPr lang="en-US" sz="2800" dirty="0">
                <a:solidFill>
                  <a:schemeClr val="bg1"/>
                </a:solidFill>
                <a:latin typeface="Oswald Light" pitchFamily="2" charset="0"/>
              </a:rPr>
              <a:t>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Oswald Light" pitchFamily="2" charset="0"/>
              </a:rPr>
              <a:t>Pennsylvania is a </a:t>
            </a:r>
            <a:r>
              <a:rPr lang="en-US" sz="2800" b="1" dirty="0">
                <a:solidFill>
                  <a:schemeClr val="bg1"/>
                </a:solidFill>
                <a:latin typeface="Oswald Light" pitchFamily="2" charset="0"/>
              </a:rPr>
              <a:t>high-demand but loss-making region</a:t>
            </a:r>
            <a:r>
              <a:rPr lang="en-US" sz="2800" dirty="0">
                <a:solidFill>
                  <a:schemeClr val="bg1"/>
                </a:solidFill>
                <a:latin typeface="Oswald Light" pitchFamily="2" charset="0"/>
              </a:rPr>
              <a:t>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Oswald Light" pitchFamily="2" charset="0"/>
              </a:rPr>
              <a:t>The problem is </a:t>
            </a:r>
            <a:r>
              <a:rPr lang="en-US" sz="2800" b="1" dirty="0">
                <a:solidFill>
                  <a:schemeClr val="bg1"/>
                </a:solidFill>
                <a:latin typeface="Oswald Light" pitchFamily="2" charset="0"/>
              </a:rPr>
              <a:t>not low sales, but poor cost management</a:t>
            </a:r>
            <a:r>
              <a:rPr lang="en-US" sz="2800" dirty="0">
                <a:solidFill>
                  <a:schemeClr val="bg1"/>
                </a:solidFill>
                <a:latin typeface="Oswald Light" pitchFamily="2" charset="0"/>
              </a:rPr>
              <a:t>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Oswald Light" pitchFamily="2" charset="0"/>
              </a:rPr>
              <a:t>A distribution center near Philadelphia can </a:t>
            </a:r>
            <a:r>
              <a:rPr lang="en-US" sz="2800" b="1" dirty="0">
                <a:solidFill>
                  <a:schemeClr val="bg1"/>
                </a:solidFill>
                <a:latin typeface="Oswald Light" pitchFamily="2" charset="0"/>
              </a:rPr>
              <a:t>significantly improve profit</a:t>
            </a:r>
            <a:r>
              <a:rPr lang="en-US" sz="2800" dirty="0">
                <a:solidFill>
                  <a:schemeClr val="bg1"/>
                </a:solidFill>
                <a:latin typeface="Oswald Light" pitchFamily="2" charset="0"/>
              </a:rPr>
              <a:t>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Oswald Light" pitchFamily="2" charset="0"/>
              </a:rPr>
              <a:t>Data-driven decisions can help </a:t>
            </a:r>
            <a:r>
              <a:rPr lang="en-US" sz="2800" b="1" dirty="0">
                <a:solidFill>
                  <a:schemeClr val="bg1"/>
                </a:solidFill>
                <a:latin typeface="Oswald Light" pitchFamily="2" charset="0"/>
              </a:rPr>
              <a:t>optimize overall business performance</a:t>
            </a:r>
            <a:endParaRPr lang="en-US" sz="2800" dirty="0">
              <a:solidFill>
                <a:schemeClr val="bg1"/>
              </a:solidFill>
              <a:latin typeface="Oswald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60979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2060"/>
            </a:gs>
            <a:gs pos="100000">
              <a:schemeClr val="tx1"/>
            </a:gs>
            <a:gs pos="70000">
              <a:schemeClr val="accent1">
                <a:lumMod val="60000"/>
                <a:lumOff val="4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8347D2-0255-78D0-8D80-367A88B11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BA53451-F708-282E-9AB5-868CF8DEE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37" y="2434856"/>
            <a:ext cx="1873325" cy="1647368"/>
          </a:xfrm>
        </p:spPr>
        <p:txBody>
          <a:bodyPr>
            <a:normAutofit/>
          </a:bodyPr>
          <a:lstStyle/>
          <a:p>
            <a:pPr algn="ctr"/>
            <a:r>
              <a:rPr lang="en-IN" sz="3600" dirty="0">
                <a:solidFill>
                  <a:schemeClr val="bg1"/>
                </a:solidFill>
                <a:latin typeface="Oswald Light" pitchFamily="2" charset="0"/>
              </a:rPr>
              <a:t>- THE END -</a:t>
            </a:r>
          </a:p>
        </p:txBody>
      </p:sp>
    </p:spTree>
    <p:extLst>
      <p:ext uri="{BB962C8B-B14F-4D97-AF65-F5344CB8AC3E}">
        <p14:creationId xmlns:p14="http://schemas.microsoft.com/office/powerpoint/2010/main" val="3725118518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Metropolitan">
      <a:dk1>
        <a:srgbClr val="000000"/>
      </a:dk1>
      <a:lt1>
        <a:srgbClr val="FFFFFF"/>
      </a:lt1>
      <a:dk2>
        <a:srgbClr val="303034"/>
      </a:dk2>
      <a:lt2>
        <a:srgbClr val="DFDFE4"/>
      </a:lt2>
      <a:accent1>
        <a:srgbClr val="00AEEF"/>
      </a:accent1>
      <a:accent2>
        <a:srgbClr val="8CC600"/>
      </a:accent2>
      <a:accent3>
        <a:srgbClr val="FFBE00"/>
      </a:accent3>
      <a:accent4>
        <a:srgbClr val="FF0097"/>
      </a:accent4>
      <a:accent5>
        <a:srgbClr val="0071BC"/>
      </a:accent5>
      <a:accent6>
        <a:srgbClr val="FF8600"/>
      </a:accent6>
      <a:hlink>
        <a:srgbClr val="2424F0"/>
      </a:hlink>
      <a:folHlink>
        <a:srgbClr val="808080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9FF7CA0D-8839-4012-B51C-B152F9BD65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Metropolitan</Template>
  <TotalTime>86</TotalTime>
  <Words>449</Words>
  <Application>Microsoft Office PowerPoint</Application>
  <PresentationFormat>Widescreen</PresentationFormat>
  <Paragraphs>55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 Light</vt:lpstr>
      <vt:lpstr>Oswald Light</vt:lpstr>
      <vt:lpstr>Oswald Medium</vt:lpstr>
      <vt:lpstr>Oswald SemiBold</vt:lpstr>
      <vt:lpstr>Metropolitan</vt:lpstr>
      <vt:lpstr>Superstore Sales &amp; Profit Analysis with Distribution Optimization</vt:lpstr>
      <vt:lpstr>Project Objective</vt:lpstr>
      <vt:lpstr>Key KPIs</vt:lpstr>
      <vt:lpstr>Monthly Sales Trend</vt:lpstr>
      <vt:lpstr>Sales of Furniture</vt:lpstr>
      <vt:lpstr>Profit By State</vt:lpstr>
      <vt:lpstr>Profit By State</vt:lpstr>
      <vt:lpstr>Distribution centre near Philadelphia</vt:lpstr>
      <vt:lpstr>Key Findings from Analysis</vt:lpstr>
      <vt:lpstr>Recommendations</vt:lpstr>
      <vt:lpstr>Conclusion</vt:lpstr>
      <vt:lpstr>- THE END -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SUPRITH S</dc:creator>
  <cp:lastModifiedBy>SUPRITH S</cp:lastModifiedBy>
  <cp:revision>1</cp:revision>
  <dcterms:created xsi:type="dcterms:W3CDTF">2026-04-09T09:25:18Z</dcterms:created>
  <dcterms:modified xsi:type="dcterms:W3CDTF">2026-04-09T10:51:47Z</dcterms:modified>
</cp:coreProperties>
</file>